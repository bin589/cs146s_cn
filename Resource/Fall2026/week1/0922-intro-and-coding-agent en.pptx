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7b974b8d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7b974b8d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7b974b8d4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7b974b8d4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With release of Claude Opus 4.5 in early December of 2025, the power of coding agents skyrocketed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They predicted it in 2025 and they have pretty much closed the gap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Coding assistant → true agentic work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Using AI in the workforce is a non-negotiable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Agents are getting too good which introduces new challenges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Hacky sack as a trend is back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7b974b8d4d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7b974b8d4d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While trend last year was </a:t>
            </a:r>
            <a:r>
              <a:rPr lang="en"/>
              <a:t>removing</a:t>
            </a:r>
            <a:r>
              <a:rPr lang="en"/>
              <a:t> of entry level roles because “AI will replace those roles”, now teams want to upskill and transform themselves to be more AI-native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You guys were forged in this generation. Many of you started your CS journeys when ChatGPT just came out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Many employers have adopted blanket policies like no hiring of L3/L4s. Or at the very least you must be L5 and above quality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Students learning CS today can be an order of magnitude better than I was when I was learning. </a:t>
            </a:r>
            <a:r>
              <a:rPr lang="en">
                <a:solidFill>
                  <a:srgbClr val="595959"/>
                </a:solidFill>
              </a:rPr>
              <a:t>With AI coding an engineer can pick up tech stacks and tools at an unprecedented pace. </a:t>
            </a:r>
            <a:r>
              <a:rPr lang="en">
                <a:solidFill>
                  <a:schemeClr val="dk1"/>
                </a:solidFill>
              </a:rPr>
              <a:t>What a time to be alive!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If you think in terms of systems, understand business context, think through resilient architectures and abstractions, AI will strap a rocket to your back in terms of productivity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79dc37a6f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79dc37a6f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Which brings us to this course…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7b974b8d4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7b974b8d4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is a class for fairly experienced engineers to truly become 10x engineers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19bd913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19bd913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9dc37a6f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79dc37a6f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bab219d5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bab219d5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854390a961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854390a961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All lecture materials on official course page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Additional reading will be there</a:t>
            </a:r>
            <a:endParaRPr/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SzPts val="1100"/>
              <a:buChar char="○"/>
            </a:pPr>
            <a:r>
              <a:rPr lang="en"/>
              <a:t>Links to assignments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This class is going to be hard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fbab219d52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fbab219d52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The OSS partner assignments are designed to give you hands on experience working in and contributing to complex codebases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bab219d52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bab219d52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/>
              <a:t>In order to understand how to best develop with coding agents, we need to </a:t>
            </a:r>
            <a:r>
              <a:rPr lang="en"/>
              <a:t>understand</a:t>
            </a:r>
            <a:r>
              <a:rPr lang="en"/>
              <a:t> how agents are built. That will be the focus this week.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bab219d52_1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bab219d52_1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150"/>
              <a:buChar char="●"/>
            </a:pPr>
            <a:r>
              <a:rPr lang="en" sz="1150">
                <a:solidFill>
                  <a:srgbClr val="595959"/>
                </a:solidFill>
              </a:rPr>
              <a:t>User interacts with coding agent client (windsurf, cursor, claude code) and runs a loop with an underlying llm. Sometimes the llm issues tool calls which the client executes (off-LLM)</a:t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bab219d52_1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fbab219d52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bab219d52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fbab219d52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19bd9134a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19bd9134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11" Type="http://schemas.openxmlformats.org/officeDocument/2006/relationships/image" Target="../media/image2.png"/><Relationship Id="rId10" Type="http://schemas.openxmlformats.org/officeDocument/2006/relationships/image" Target="../media/image8.png"/><Relationship Id="rId9" Type="http://schemas.openxmlformats.org/officeDocument/2006/relationships/image" Target="../media/image1.pn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themodernsoftware.dev" TargetMode="External"/><Relationship Id="rId4" Type="http://schemas.openxmlformats.org/officeDocument/2006/relationships/hyperlink" Target="https://github.com/mihail911/modern-software-dev-assignments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3.png"/><Relationship Id="rId7" Type="http://schemas.openxmlformats.org/officeDocument/2006/relationships/image" Target="../media/image16.png"/><Relationship Id="rId8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5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CS146S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Stanford University, Fall 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Mihail Eric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24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of the World: 2026 </a:t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67" name="Google Shape;67;p14" title="Screenshot 2026-09-19 at 10.13.58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891076"/>
            <a:ext cx="3235262" cy="180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 title="Screenshot 2026-09-19 at 10.15.52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0923" y="2571749"/>
            <a:ext cx="2203449" cy="1969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 title="Screenshot 2026-09-19 at 10.35.28 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01795" y="2695350"/>
            <a:ext cx="2677507" cy="1804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Screenshot 2026-09-19 at 10.37.37 A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4700" y="1051801"/>
            <a:ext cx="5338399" cy="1089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1919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That Means For You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Broader industry-wide AI adoption means companies </a:t>
            </a:r>
            <a:r>
              <a:rPr b="1" lang="en" sz="1900"/>
              <a:t>need</a:t>
            </a:r>
            <a:r>
              <a:rPr lang="en" sz="1900"/>
              <a:t> you</a:t>
            </a:r>
            <a:endParaRPr sz="19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Becoming “AI-native” is now the new goal</a:t>
            </a:r>
            <a:endParaRPr sz="15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But…the floor is higher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Software </a:t>
            </a:r>
            <a:r>
              <a:rPr lang="en" sz="1900"/>
              <a:t>developers</a:t>
            </a:r>
            <a:r>
              <a:rPr lang="en" sz="1900"/>
              <a:t> are more productive than they have ever been in history and so expectations have grown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Focus on holistic systems-level thinking, architectures, and abstractions </a:t>
            </a:r>
            <a:endParaRPr sz="19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When combined with AI-first development practices you will be irreplaceable</a:t>
            </a:r>
            <a:endParaRPr sz="15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77" name="Google Shape;77;p1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ctrTitle"/>
          </p:nvPr>
        </p:nvSpPr>
        <p:spPr>
          <a:xfrm>
            <a:off x="311708" y="12046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Modern Software Developer</a:t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529900" y="2139700"/>
            <a:ext cx="808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20">
                <a:latin typeface="Roboto"/>
                <a:ea typeface="Roboto"/>
                <a:cs typeface="Roboto"/>
                <a:sym typeface="Roboto"/>
              </a:rPr>
              <a:t>This </a:t>
            </a:r>
            <a:r>
              <a:rPr lang="en" sz="3620"/>
              <a:t>class is about principles not tools</a:t>
            </a:r>
            <a:endParaRPr sz="362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2301823" y="2061225"/>
            <a:ext cx="4882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900"/>
              <a:t> 10 weeks in 1 slide</a:t>
            </a:r>
            <a:endParaRPr sz="39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1" name="Google Shape;101;p18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Takeaway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Human-agent engineering 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Focus on the skills that are not yet replaced by AI systems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Business and product understanding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○"/>
            </a:pPr>
            <a:r>
              <a:rPr lang="en">
                <a:latin typeface="Roboto"/>
                <a:ea typeface="Roboto"/>
                <a:cs typeface="Roboto"/>
                <a:sym typeface="Roboto"/>
              </a:rPr>
              <a:t>Become the tech </a:t>
            </a:r>
            <a:r>
              <a:rPr lang="en"/>
              <a:t>architect </a:t>
            </a:r>
            <a:r>
              <a:rPr lang="en"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/>
              <a:t>– develop good taste for software systems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Communication is crucial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LLMs are only as good as you 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Good context leads to good code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you can’t understand your codebase, neither will an LLM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Prevent AI slop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Experiment aggressively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9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2" name="Google Shape;112;p19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Logistics</a:t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0" name="Google Shape;120;p20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Instructor (Hi!)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Stanford undergrad/grad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Head of AI at Monaco, an SF-based startup in the sales space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AI Advisor for dozens of companies from seed-stage startups to public enterprises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Built first LLMs at Amazon Alexa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Founded and sold an ML education startup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Founded a YC-backed AI coding company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 awesome CAs	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Isaac Kan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Vijay Daita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2875" y="2323465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06992" y="2323465"/>
            <a:ext cx="894660" cy="5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06850" y="2323465"/>
            <a:ext cx="572701" cy="572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0" title="Screenshot 2026-01-17 at 8.16.47 PM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86929" y="2287640"/>
            <a:ext cx="687125" cy="716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641389" y="2323465"/>
            <a:ext cx="572700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20913" y="3331175"/>
            <a:ext cx="277575" cy="27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35151" y="3331177"/>
            <a:ext cx="277574" cy="2775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28636" y="3710389"/>
            <a:ext cx="262136" cy="262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280" y="3710389"/>
            <a:ext cx="262136" cy="262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955714" y="3694950"/>
            <a:ext cx="262136" cy="2621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Logistics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https://themodernsoftware.dev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Lectures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Tue/Thur 5:30-6:20 pm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Deliverables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6 assignments (1x/week) focusing on lecture material practice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https://github.com/mihail911/modern-software-dev-assignments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3-4 contributions to OSS repositories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 final open-ended project in which you will exercise AI coding principles we cover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Grading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50/15/30/5 breakdown for project/assignments/OSS/participation</a:t>
            </a:r>
            <a:endParaRPr/>
          </a:p>
        </p:txBody>
      </p:sp>
      <p:sp>
        <p:nvSpPr>
          <p:cNvPr id="138" name="Google Shape;138;p21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1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0" name="Google Shape;140;p21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Course Logistics</a:t>
            </a:r>
            <a:endParaRPr/>
          </a:p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OSS Partners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15 of the top AI-native open-source projects including Vercel, Warp, Marimo, Milvus, Pi, CrewAI, Browserbase, HeyGen, CopilotKit, Semgrep, OpenHands, Cmux, Arize, </a:t>
            </a:r>
            <a:r>
              <a:rPr lang="en"/>
              <a:t>Sloth</a:t>
            </a:r>
            <a:r>
              <a:rPr lang="en"/>
              <a:t>, Anyscale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Guest Lectures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</a:t>
            </a:r>
            <a:r>
              <a:rPr lang="en"/>
              <a:t>ounders and engineering execs leading top AI developer teams today (creators of Claude Code, Devin, Replit, Factory, and more)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Billions of dollars raised, tens of billions in valuation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Don’t miss these talks!</a:t>
            </a:r>
            <a:endParaRPr/>
          </a:p>
        </p:txBody>
      </p:sp>
      <p:sp>
        <p:nvSpPr>
          <p:cNvPr id="147" name="Google Shape;147;p22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2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9" name="Google Shape;149;p22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ctrTitle"/>
          </p:nvPr>
        </p:nvSpPr>
        <p:spPr>
          <a:xfrm>
            <a:off x="311708" y="1125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Build Claude Code in 200 Lines of Code</a:t>
            </a:r>
            <a:endParaRPr/>
          </a:p>
        </p:txBody>
      </p:sp>
      <p:sp>
        <p:nvSpPr>
          <p:cNvPr id="155" name="Google Shape;155;p23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3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7" name="Google Shape;157;p23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4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4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4" name="Google Shape;164;p24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65" name="Google Shape;16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8625" y="2902847"/>
            <a:ext cx="962875" cy="96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92311" y="3179959"/>
            <a:ext cx="707750" cy="70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32686" y="3887709"/>
            <a:ext cx="707748" cy="7077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62037" y="2526934"/>
            <a:ext cx="553650" cy="553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9" name="Google Shape;169;p24"/>
          <p:cNvCxnSpPr/>
          <p:nvPr/>
        </p:nvCxnSpPr>
        <p:spPr>
          <a:xfrm>
            <a:off x="3109950" y="3313722"/>
            <a:ext cx="528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4"/>
          <p:cNvCxnSpPr/>
          <p:nvPr/>
        </p:nvCxnSpPr>
        <p:spPr>
          <a:xfrm rot="10800000">
            <a:off x="3087775" y="3474872"/>
            <a:ext cx="535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" name="Google Shape;171;p24"/>
          <p:cNvSpPr/>
          <p:nvPr/>
        </p:nvSpPr>
        <p:spPr>
          <a:xfrm>
            <a:off x="3764600" y="2414972"/>
            <a:ext cx="805500" cy="211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72" name="Google Shape;172;p24" title="Screenshot 2025-09-04 at 10.41.08 PM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94700" y="2916554"/>
            <a:ext cx="962875" cy="9354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783801" y="1054726"/>
            <a:ext cx="805500" cy="80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4" name="Google Shape;174;p24"/>
          <p:cNvCxnSpPr/>
          <p:nvPr/>
        </p:nvCxnSpPr>
        <p:spPr>
          <a:xfrm rot="10800000">
            <a:off x="4085837" y="2022250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4"/>
          <p:cNvCxnSpPr/>
          <p:nvPr/>
        </p:nvCxnSpPr>
        <p:spPr>
          <a:xfrm>
            <a:off x="4238237" y="2027903"/>
            <a:ext cx="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4"/>
          <p:cNvCxnSpPr/>
          <p:nvPr/>
        </p:nvCxnSpPr>
        <p:spPr>
          <a:xfrm>
            <a:off x="4841575" y="3277025"/>
            <a:ext cx="13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7" name="Google Shape;177;p24"/>
          <p:cNvCxnSpPr/>
          <p:nvPr/>
        </p:nvCxnSpPr>
        <p:spPr>
          <a:xfrm rot="10800000">
            <a:off x="4825215" y="3451437"/>
            <a:ext cx="1394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8" name="Google Shape;178;p24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It’s that simple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5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</a:t>
            </a:r>
            <a:endParaRPr/>
          </a:p>
        </p:txBody>
      </p:sp>
      <p:sp>
        <p:nvSpPr>
          <p:cNvPr id="184" name="Google Shape;184;p25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Read in terminal and keep appending to conversation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Tell LLM what tools are available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It asks for tool use at appropriate 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You execute tool offline and return response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Tools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“Read_file”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“List_dir”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“Edit_file”</a:t>
            </a:r>
            <a:endParaRPr/>
          </a:p>
        </p:txBody>
      </p:sp>
      <p:sp>
        <p:nvSpPr>
          <p:cNvPr id="185" name="Google Shape;185;p25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5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87" name="Google Shape;187;p25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type="title"/>
          </p:nvPr>
        </p:nvSpPr>
        <p:spPr>
          <a:xfrm>
            <a:off x="311650" y="346812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build a coding agent from scratch!</a:t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6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pic>
        <p:nvPicPr>
          <p:cNvPr id="196" name="Google Shape;19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2235" y="1071912"/>
            <a:ext cx="2757477" cy="35229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7"/>
          <p:cNvSpPr/>
          <p:nvPr/>
        </p:nvSpPr>
        <p:spPr>
          <a:xfrm>
            <a:off x="700" y="4747275"/>
            <a:ext cx="9142500" cy="396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7"/>
          <p:cNvSpPr txBox="1"/>
          <p:nvPr/>
        </p:nvSpPr>
        <p:spPr>
          <a:xfrm>
            <a:off x="7234650" y="4483125"/>
            <a:ext cx="1922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03" name="Google Shape;203;p27"/>
          <p:cNvSpPr txBox="1"/>
          <p:nvPr/>
        </p:nvSpPr>
        <p:spPr>
          <a:xfrm>
            <a:off x="7240000" y="4775925"/>
            <a:ext cx="1922400" cy="16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lt1"/>
                </a:solidFill>
              </a:rPr>
              <a:t>themodernsoftware.dev</a:t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204" name="Google Shape;204;p27"/>
          <p:cNvSpPr txBox="1"/>
          <p:nvPr/>
        </p:nvSpPr>
        <p:spPr>
          <a:xfrm>
            <a:off x="3195889" y="1976200"/>
            <a:ext cx="2782200" cy="8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Questions?</a:t>
            </a:r>
            <a:endParaRPr sz="39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