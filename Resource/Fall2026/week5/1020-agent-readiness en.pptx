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actory.ai/news/agent-readiness" TargetMode="External"/><Relationship Id="rId3" Type="http://schemas.openxmlformats.org/officeDocument/2006/relationships/hyperlink" Target="https://app.factory.ai/analytics/readiness/https%253A%252F%252Fgithub.com%252Fvercel%252Fnext.js" TargetMode="External"/><Relationship Id="rId4" Type="http://schemas.openxmlformats.org/officeDocument/2006/relationships/hyperlink" Target="https://x.com/alvinsng/status/2030056110317818206?s=20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41725962585559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41725962585559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417259625855591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417259625855591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417259625855591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417259625855591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acb5504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acb5504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acb5504e2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acb5504e2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acb5504e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acb5504e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cb5504e2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acb5504e2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messy repo could be as simple as having different access patterns (like for a DB), variable naming, multiple functions that do the same thing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acb5504e2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acb5504e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acb5504e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acb5504e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67fccd5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67fccd5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https://factory.ai/news/agent-readiness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https://factory.ai/agent-readiness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check the readiness of some repos: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https://app.factory.ai/analytics/readiness/https%253A%252F%252Fgithub.com%252Fvercel%252Fnext.js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 u="sng">
                <a:solidFill>
                  <a:schemeClr val="hlink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  <a:hlinkClick r:id="rId4"/>
              </a:rPr>
              <a:t>https://x.com/alvinsng/status/2030056110317818206?s=20</a:t>
            </a:r>
            <a:endParaRPr sz="1150">
              <a:solidFill>
                <a:srgbClr val="E6E9EA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oboto"/>
              <a:buChar char="●"/>
            </a:pPr>
            <a:r>
              <a:rPr lang="en" sz="11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https://github.com/kodustech/agent-readiness</a:t>
            </a:r>
            <a:endParaRPr sz="11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4172596258555915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4172596258555915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417259625855591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417259625855591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417259625855591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417259625855591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It’s basically the same slide as our the one from building an agent-first development environment!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4172596258555915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h417259625855591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These orchestrators can make it difficult to jump between different surface areas like terminal &lt;&gt; IDE &lt;&gt; cloud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17259625855591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417259625855591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agents.m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agents.m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conductor.build/" TargetMode="External"/><Relationship Id="rId4" Type="http://schemas.openxmlformats.org/officeDocument/2006/relationships/hyperlink" Target="https://cursor.com/docs/configuration/worktrees" TargetMode="External"/><Relationship Id="rId5" Type="http://schemas.openxmlformats.org/officeDocument/2006/relationships/hyperlink" Target="https://code.claude.com/docs/en/agent-teams" TargetMode="External"/><Relationship Id="rId6" Type="http://schemas.openxmlformats.org/officeDocument/2006/relationships/hyperlink" Target="https://engineering.ramp.com/post/why-we-built-our-background-agen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s.openai.com/codex/cloud/" TargetMode="External"/><Relationship Id="rId4" Type="http://schemas.openxmlformats.org/officeDocument/2006/relationships/hyperlink" Target="https://code.claude.com/docs/en/claude-code-on-the-web" TargetMode="External"/><Relationship Id="rId11" Type="http://schemas.openxmlformats.org/officeDocument/2006/relationships/hyperlink" Target="https://www.atcyrus.com/" TargetMode="External"/><Relationship Id="rId10" Type="http://schemas.openxmlformats.org/officeDocument/2006/relationships/hyperlink" Target="https://developers.openai.com/codex/integrations/slack/" TargetMode="External"/><Relationship Id="rId9" Type="http://schemas.openxmlformats.org/officeDocument/2006/relationships/hyperlink" Target="https://code.claude.com/docs/en/slack" TargetMode="External"/><Relationship Id="rId5" Type="http://schemas.openxmlformats.org/officeDocument/2006/relationships/hyperlink" Target="https://devin.ai/" TargetMode="External"/><Relationship Id="rId6" Type="http://schemas.openxmlformats.org/officeDocument/2006/relationships/hyperlink" Target="https://graphite.com/" TargetMode="External"/><Relationship Id="rId7" Type="http://schemas.openxmlformats.org/officeDocument/2006/relationships/hyperlink" Target="https://code.claude.com/docs/en/github-actions" TargetMode="External"/><Relationship Id="rId8" Type="http://schemas.openxmlformats.org/officeDocument/2006/relationships/hyperlink" Target="https://cognition.ai/blog/devin-re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Assignment 4 due Sunday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was first OSS contribution?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mid-quarter survey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Guest lecture - STLC 111 (all Thursday lectures moving forward)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Eno Reyes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2611036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context story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684025" y="1328675"/>
            <a:ext cx="3207900" cy="630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406425" y="1440900"/>
            <a:ext cx="176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684025" y="1938275"/>
            <a:ext cx="3207900" cy="3963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569175" y="1932873"/>
            <a:ext cx="1437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Memory.md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684025" y="2319275"/>
            <a:ext cx="3207900" cy="3963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786525" y="2313875"/>
            <a:ext cx="10029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Env info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2684025" y="2700275"/>
            <a:ext cx="3207900" cy="3963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569175" y="2694873"/>
            <a:ext cx="1437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tools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684025" y="3081275"/>
            <a:ext cx="3207900" cy="3963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3901875" y="3075875"/>
            <a:ext cx="7722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Skills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2684025" y="3462275"/>
            <a:ext cx="3207900" cy="396300"/>
          </a:xfrm>
          <a:prstGeom prst="rect">
            <a:avLst/>
          </a:prstGeom>
          <a:solidFill>
            <a:srgbClr val="9FC5E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229378" y="3478075"/>
            <a:ext cx="2406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 (global)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684025" y="3843275"/>
            <a:ext cx="3207900" cy="5727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3261458" y="3933928"/>
            <a:ext cx="24060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AGENTS.md (local)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142850" y="2146050"/>
            <a:ext cx="6858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Creating agent-ready repositories</a:t>
            </a:r>
            <a:endParaRPr sz="3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Most codebases today aren’t set up for agent success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Much of LLM confusion comes from trying to finish a task with a messy or incomplete developer environment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Optimize your codebase/environment so that a human </a:t>
            </a:r>
            <a:r>
              <a:rPr i="1" lang="en" sz="1850"/>
              <a:t>and</a:t>
            </a:r>
            <a:r>
              <a:rPr lang="en" sz="1850"/>
              <a:t> an agent could understand what’s going on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humans can work around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Insufficient test coverage (manual testing)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Outdated documentation (bother your teammates)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No linter (you can check for semicolons)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Flaky build (retry)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Complex setup/onboarding (bother your teammates)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Difficult or missing observability (check logs)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No security scanning (don’t worry about it right now…)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Inconsistent </a:t>
            </a:r>
            <a:r>
              <a:rPr lang="en" sz="1850"/>
              <a:t>programmatic</a:t>
            </a:r>
            <a:r>
              <a:rPr lang="en" sz="1850"/>
              <a:t> patterns (implicit tribal knowledge)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breaks agents</a:t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No tests → can’t verify correctness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No docs/standards → can’t ensure consistency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Unreliable build → can’t verify changes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No observability → can’t debug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Complex setup → no environment reproducibility 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No security check → introduces vulnerabilities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Agent-ready environment checklist</a:t>
            </a:r>
            <a:endParaRPr/>
          </a:p>
        </p:txBody>
      </p:sp>
      <p:sp>
        <p:nvSpPr>
          <p:cNvPr id="129" name="Google Shape;129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Sufficient test coverage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Hermetic build system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Well-documented, consistent design patterns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No outdated READMEs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Verifiable checks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An agent-specific playbook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 u="sng">
                <a:solidFill>
                  <a:schemeClr val="hlink"/>
                </a:solidFill>
                <a:hlinkClick r:id="rId3"/>
              </a:rPr>
              <a:t>AGENTS.md</a:t>
            </a:r>
            <a:r>
              <a:rPr lang="en" sz="1850"/>
              <a:t> etc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this enables you to do</a:t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Large task completion (migrations, etc)</a:t>
            </a:r>
            <a:endParaRPr sz="1665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Multiple agent workloads across team </a:t>
            </a:r>
            <a:r>
              <a:rPr lang="en" sz="1665"/>
              <a:t>members</a:t>
            </a:r>
            <a:r>
              <a:rPr lang="en" sz="1665"/>
              <a:t> </a:t>
            </a:r>
            <a:endParaRPr sz="1665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Automated code review</a:t>
            </a:r>
            <a:endParaRPr sz="1665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Long-running agentic tasks with verifiable outcomes</a:t>
            </a:r>
            <a:endParaRPr sz="1665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Brownfield codebase agent workloads</a:t>
            </a:r>
            <a:endParaRPr sz="166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2843650" y="2285400"/>
            <a:ext cx="345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readiness demo</a:t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650100" y="2146050"/>
            <a:ext cx="78438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Background Coding Agent Workflows</a:t>
            </a:r>
            <a:endParaRPr sz="3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4328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sz="1665"/>
              <a:t>Progression of coding agent capabilities</a:t>
            </a:r>
            <a:endParaRPr sz="1665"/>
          </a:p>
          <a:p>
            <a:pPr indent="-334328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○"/>
            </a:pPr>
            <a:r>
              <a:rPr lang="en" sz="1665"/>
              <a:t>Tab complete (2021)</a:t>
            </a:r>
            <a:endParaRPr sz="1665"/>
          </a:p>
          <a:p>
            <a:pPr indent="-334327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■"/>
            </a:pPr>
            <a:r>
              <a:rPr lang="en" sz="1665"/>
              <a:t>~15% efficiency gains</a:t>
            </a:r>
            <a:endParaRPr sz="1665"/>
          </a:p>
          <a:p>
            <a:pPr indent="-334328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○"/>
            </a:pPr>
            <a:r>
              <a:rPr lang="en" sz="1665"/>
              <a:t>Synchronous single-task completion (2024)</a:t>
            </a:r>
            <a:endParaRPr sz="1665"/>
          </a:p>
          <a:p>
            <a:pPr indent="-334327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■"/>
            </a:pPr>
            <a:r>
              <a:rPr lang="en" sz="1665"/>
              <a:t>~25-35% efficiency gains</a:t>
            </a:r>
            <a:endParaRPr sz="1665"/>
          </a:p>
          <a:p>
            <a:pPr indent="-334328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○"/>
            </a:pPr>
            <a:r>
              <a:rPr lang="en" sz="1665"/>
              <a:t>Background multi-task completion (2026+)</a:t>
            </a:r>
            <a:endParaRPr sz="1665"/>
          </a:p>
          <a:p>
            <a:pPr indent="-334327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65"/>
              <a:buChar char="■"/>
            </a:pPr>
            <a:r>
              <a:rPr b="1" lang="en" sz="1665"/>
              <a:t>Unlock:</a:t>
            </a:r>
            <a:r>
              <a:rPr lang="en" sz="1665"/>
              <a:t> </a:t>
            </a:r>
            <a:r>
              <a:rPr lang="en" sz="1665" u="sng"/>
              <a:t>2x+ efficiency gains</a:t>
            </a:r>
            <a:endParaRPr sz="1665" u="sng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What background agents require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Isolated development environments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Sufficient test coverage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Hermetic build system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Well-documented, consistent design patterns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No outdated READMEs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Verifiable checks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An agent-specific playbook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 u="sng">
                <a:solidFill>
                  <a:schemeClr val="hlink"/>
                </a:solidFill>
                <a:hlinkClick r:id="rId3"/>
              </a:rPr>
              <a:t>AGENTS.md</a:t>
            </a:r>
            <a:r>
              <a:rPr lang="en" sz="1850"/>
              <a:t> etc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isolation</a:t>
            </a:r>
            <a:endParaRPr/>
          </a:p>
        </p:txBody>
      </p:sp>
      <p:sp>
        <p:nvSpPr>
          <p:cNvPr id="181" name="Google Shape;181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Git worktrees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git worktree add -b my-new-branch ../my-new-branch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Multi-agent orchestrators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3"/>
              </a:rPr>
              <a:t>Conductor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Cursor parallel agents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5"/>
              </a:rPr>
              <a:t>Claude Code Swarms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6"/>
              </a:rPr>
              <a:t>Roll your own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Abstract away lower level setup like creating worktrees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Can have occasionally rigid UIs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Shared resources are not completely isolated (databases, ports)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agents</a:t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11700" y="1049261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Handle all the complexity of spinning off agents with necessary environments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You can spin off these agents across surface areas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Options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Browser (</a:t>
            </a:r>
            <a:r>
              <a:rPr lang="en" sz="1850" u="sng">
                <a:solidFill>
                  <a:schemeClr val="hlink"/>
                </a:solidFill>
                <a:hlinkClick r:id="rId3"/>
              </a:rPr>
              <a:t>Codex</a:t>
            </a:r>
            <a:r>
              <a:rPr lang="en" sz="1850"/>
              <a:t>, </a:t>
            </a:r>
            <a:r>
              <a:rPr lang="en" sz="1850" u="sng">
                <a:solidFill>
                  <a:schemeClr val="hlink"/>
                </a:solidFill>
                <a:hlinkClick r:id="rId4"/>
              </a:rPr>
              <a:t>Claude Code</a:t>
            </a:r>
            <a:r>
              <a:rPr lang="en" sz="1850"/>
              <a:t>, </a:t>
            </a:r>
            <a:r>
              <a:rPr lang="en" sz="1850" u="sng">
                <a:solidFill>
                  <a:schemeClr val="hlink"/>
                </a:solidFill>
                <a:hlinkClick r:id="rId5"/>
              </a:rPr>
              <a:t>Devin</a:t>
            </a:r>
            <a:r>
              <a:rPr lang="en" sz="1850"/>
              <a:t>)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Code review (</a:t>
            </a:r>
            <a:r>
              <a:rPr lang="en" sz="1850" u="sng">
                <a:solidFill>
                  <a:schemeClr val="hlink"/>
                </a:solidFill>
                <a:hlinkClick r:id="rId6"/>
              </a:rPr>
              <a:t>Graphite</a:t>
            </a:r>
            <a:r>
              <a:rPr lang="en" sz="1850"/>
              <a:t>, </a:t>
            </a:r>
            <a:r>
              <a:rPr lang="en" sz="1850" u="sng">
                <a:solidFill>
                  <a:schemeClr val="hlink"/>
                </a:solidFill>
                <a:hlinkClick r:id="rId7"/>
              </a:rPr>
              <a:t>Claude</a:t>
            </a:r>
            <a:r>
              <a:rPr lang="en" sz="1850"/>
              <a:t>, </a:t>
            </a:r>
            <a:r>
              <a:rPr lang="en" sz="1850" u="sng">
                <a:solidFill>
                  <a:schemeClr val="hlink"/>
                </a:solidFill>
                <a:hlinkClick r:id="rId8"/>
              </a:rPr>
              <a:t>Devin Review</a:t>
            </a:r>
            <a:r>
              <a:rPr lang="en" sz="1850"/>
              <a:t>)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Communications platforms (</a:t>
            </a:r>
            <a:r>
              <a:rPr lang="en" sz="1850" u="sng">
                <a:solidFill>
                  <a:schemeClr val="hlink"/>
                </a:solidFill>
                <a:hlinkClick r:id="rId9"/>
              </a:rPr>
              <a:t>Claude Code</a:t>
            </a:r>
            <a:r>
              <a:rPr lang="en" sz="1850"/>
              <a:t>, </a:t>
            </a:r>
            <a:r>
              <a:rPr lang="en" sz="1850" u="sng">
                <a:solidFill>
                  <a:schemeClr val="hlink"/>
                </a:solidFill>
                <a:hlinkClick r:id="rId10"/>
              </a:rPr>
              <a:t>Codex</a:t>
            </a:r>
            <a:r>
              <a:rPr lang="en" sz="1850"/>
              <a:t> in Slack)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Mobile (native app or via 3rd party app like Slack)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Your task tracking software (</a:t>
            </a:r>
            <a:r>
              <a:rPr lang="en" sz="1850" u="sng">
                <a:solidFill>
                  <a:schemeClr val="hlink"/>
                </a:solidFill>
                <a:hlinkClick r:id="rId11"/>
              </a:rPr>
              <a:t>Linear issue</a:t>
            </a:r>
            <a:r>
              <a:rPr lang="en" sz="1850"/>
              <a:t>)</a:t>
            </a:r>
            <a:endParaRPr sz="18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